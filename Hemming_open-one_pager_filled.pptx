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35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6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80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5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2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4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12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6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4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843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208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3088-D88C-4B14-B200-DC2B55A18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216000"/>
            <a:ext cx="9438861" cy="462873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89581F-0EA2-444E-AFFF-CE36194FD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21567"/>
            <a:ext cx="11438574" cy="495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E780D2F-9140-4F66-A483-38B9B37CE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70574" y="6492875"/>
            <a:ext cx="321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62557-EB88-46A3-83A1-BA208C0C402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6" name="Picture 5" descr="Icon  Description automatically generated">
            <a:extLst>
              <a:ext uri="{FF2B5EF4-FFF2-40B4-BE49-F238E27FC236}">
                <a16:creationId xmlns:a16="http://schemas.microsoft.com/office/drawing/2014/main" id="{F819C25E-F4AD-024F-8DBF-32472AF7DB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9257798" y="6318492"/>
            <a:ext cx="2936722" cy="5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0568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FA793-6D0F-4B1E-BA97-83B2283E42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5DB84-EB76-47B1-A1DB-E10EC32C5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5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81394" y="6587468"/>
            <a:ext cx="127900" cy="196137"/>
          </a:xfrm>
        </p:spPr>
        <p:txBody>
          <a:bodyPr/>
          <a:lstStyle/>
          <a:p>
            <a:fld id="{EEB62557-EB88-46A3-83A1-BA208C0C402D}" type="slidenum">
              <a:rPr lang="en-IN" smtClean="0"/>
              <a:pPr/>
              <a:t>1</a:t>
            </a:fld>
            <a:endParaRPr lang="en-IN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03318"/>
              </p:ext>
            </p:extLst>
          </p:nvPr>
        </p:nvGraphicFramePr>
        <p:xfrm>
          <a:off x="156116" y="865189"/>
          <a:ext cx="11886587" cy="24018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46908">
                  <a:extLst>
                    <a:ext uri="{9D8B030D-6E8A-4147-A177-3AD203B41FA5}">
                      <a16:colId xmlns:a16="http://schemas.microsoft.com/office/drawing/2014/main" val="169528887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656832757"/>
                    </a:ext>
                  </a:extLst>
                </a:gridCol>
                <a:gridCol w="1451293">
                  <a:extLst>
                    <a:ext uri="{9D8B030D-6E8A-4147-A177-3AD203B41FA5}">
                      <a16:colId xmlns:a16="http://schemas.microsoft.com/office/drawing/2014/main" val="1836917604"/>
                    </a:ext>
                  </a:extLst>
                </a:gridCol>
                <a:gridCol w="727375">
                  <a:extLst>
                    <a:ext uri="{9D8B030D-6E8A-4147-A177-3AD203B41FA5}">
                      <a16:colId xmlns:a16="http://schemas.microsoft.com/office/drawing/2014/main" val="793340062"/>
                    </a:ext>
                  </a:extLst>
                </a:gridCol>
                <a:gridCol w="880946">
                  <a:extLst>
                    <a:ext uri="{9D8B030D-6E8A-4147-A177-3AD203B41FA5}">
                      <a16:colId xmlns:a16="http://schemas.microsoft.com/office/drawing/2014/main" val="3343130360"/>
                    </a:ext>
                  </a:extLst>
                </a:gridCol>
                <a:gridCol w="2910468">
                  <a:extLst>
                    <a:ext uri="{9D8B030D-6E8A-4147-A177-3AD203B41FA5}">
                      <a16:colId xmlns:a16="http://schemas.microsoft.com/office/drawing/2014/main" val="2108069101"/>
                    </a:ext>
                  </a:extLst>
                </a:gridCol>
                <a:gridCol w="2553630">
                  <a:extLst>
                    <a:ext uri="{9D8B030D-6E8A-4147-A177-3AD203B41FA5}">
                      <a16:colId xmlns:a16="http://schemas.microsoft.com/office/drawing/2014/main" val="2997165651"/>
                    </a:ext>
                  </a:extLst>
                </a:gridCol>
                <a:gridCol w="804464">
                  <a:extLst>
                    <a:ext uri="{9D8B030D-6E8A-4147-A177-3AD203B41FA5}">
                      <a16:colId xmlns:a16="http://schemas.microsoft.com/office/drawing/2014/main" val="2367183457"/>
                    </a:ext>
                  </a:extLst>
                </a:gridCol>
                <a:gridCol w="588824">
                  <a:extLst>
                    <a:ext uri="{9D8B030D-6E8A-4147-A177-3AD203B41FA5}">
                      <a16:colId xmlns:a16="http://schemas.microsoft.com/office/drawing/2014/main" val="1253633845"/>
                    </a:ext>
                  </a:extLst>
                </a:gridCol>
              </a:tblGrid>
              <a:tr h="715263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Leads</a:t>
                      </a:r>
                    </a:p>
                  </a:txBody>
                  <a:tcPr marL="36000" marR="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Model</a:t>
                      </a:r>
                    </a:p>
                  </a:txBody>
                  <a:tcPr marL="36000" marR="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Failure Mode</a:t>
                      </a:r>
                    </a:p>
                  </a:txBody>
                  <a:tcPr marL="36000" marR="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Occ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Demerit</a:t>
                      </a:r>
                      <a:r>
                        <a:rPr lang="en-IN" sz="16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 xml:space="preserve"> 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RCA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Actions</a:t>
                      </a:r>
                      <a:r>
                        <a:rPr lang="en-IN" sz="16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 xml:space="preserve"> Taken/Planned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ECD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RAYBG</a:t>
                      </a:r>
                    </a:p>
                  </a:txBody>
                  <a:tcPr marL="36000" marR="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243713"/>
                  </a:ext>
                </a:extLst>
              </a:tr>
              <a:tr h="16866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 xml:space="preserve">Nexon </a:t>
                      </a:r>
                      <a:endParaRPr lang="en-IN" sz="16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 xml:space="preserve">Hemming open defect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 xml:space="preserve">03 </a:t>
                      </a: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en-IN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 xml:space="preserve">  Primary Root cause : Tool wear + Low hemming pressure + Improper alignment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Pressure increase on hemming tool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Tool wear check &amp; replacement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100% inspection initiated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 Segregation of suspected parts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dirty="0">
                          <a:latin typeface="+mn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en-IN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1253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096000" y="71680"/>
            <a:ext cx="1878786" cy="67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ECD – Expected Closure 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RCA – Root Cause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 – Immediate Corrective 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PCA – Permanent Corrective Action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097519"/>
              </p:ext>
            </p:extLst>
          </p:nvPr>
        </p:nvGraphicFramePr>
        <p:xfrm>
          <a:off x="8320824" y="52087"/>
          <a:ext cx="2024726" cy="699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44">
                  <a:extLst>
                    <a:ext uri="{9D8B030D-6E8A-4147-A177-3AD203B41FA5}">
                      <a16:colId xmlns:a16="http://schemas.microsoft.com/office/drawing/2014/main" val="4268228080"/>
                    </a:ext>
                  </a:extLst>
                </a:gridCol>
                <a:gridCol w="1787082">
                  <a:extLst>
                    <a:ext uri="{9D8B030D-6E8A-4147-A177-3AD203B41FA5}">
                      <a16:colId xmlns:a16="http://schemas.microsoft.com/office/drawing/2014/main" val="4068445640"/>
                    </a:ext>
                  </a:extLst>
                </a:gridCol>
              </a:tblGrid>
              <a:tr h="118888">
                <a:tc>
                  <a:txBody>
                    <a:bodyPr/>
                    <a:lstStyle/>
                    <a:p>
                      <a:pPr algn="ctr"/>
                      <a:r>
                        <a:rPr lang="en-IN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Root Cause Under</a:t>
                      </a:r>
                      <a:r>
                        <a:rPr lang="en-IN" sz="9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 xml:space="preserve"> Analysis</a:t>
                      </a:r>
                      <a:endParaRPr lang="en-IN" sz="9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683486"/>
                  </a:ext>
                </a:extLst>
              </a:tr>
              <a:tr h="150517">
                <a:tc>
                  <a:txBody>
                    <a:bodyPr/>
                    <a:lstStyle/>
                    <a:p>
                      <a:pPr algn="ctr"/>
                      <a:r>
                        <a:rPr lang="en-IN" sz="900" b="1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dirty="0">
                          <a:latin typeface="Calibri" panose="020F0502020204030204" pitchFamily="34" charset="0"/>
                        </a:rPr>
                        <a:t>Improvement Action Identified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57431"/>
                  </a:ext>
                </a:extLst>
              </a:tr>
              <a:tr h="118888">
                <a:tc>
                  <a:txBody>
                    <a:bodyPr/>
                    <a:lstStyle/>
                    <a:p>
                      <a:pPr algn="ctr"/>
                      <a:r>
                        <a:rPr lang="en-IN" sz="900" b="1" dirty="0"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dirty="0">
                          <a:latin typeface="Calibri" panose="020F0502020204030204" pitchFamily="34" charset="0"/>
                        </a:rPr>
                        <a:t xml:space="preserve">ECN </a:t>
                      </a:r>
                      <a:r>
                        <a:rPr lang="en-IN" sz="900" baseline="0" dirty="0">
                          <a:latin typeface="Calibri" panose="020F0502020204030204" pitchFamily="34" charset="0"/>
                        </a:rPr>
                        <a:t>Released</a:t>
                      </a:r>
                      <a:endParaRPr lang="en-IN" sz="900" dirty="0">
                        <a:latin typeface="Calibri" panose="020F0502020204030204" pitchFamily="34" charset="0"/>
                      </a:endParaRP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016971"/>
                  </a:ext>
                </a:extLst>
              </a:tr>
              <a:tr h="118888">
                <a:tc>
                  <a:txBody>
                    <a:bodyPr/>
                    <a:lstStyle/>
                    <a:p>
                      <a:pPr algn="ctr"/>
                      <a:r>
                        <a:rPr lang="en-IN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dirty="0">
                          <a:latin typeface="Calibri" panose="020F0502020204030204" pitchFamily="34" charset="0"/>
                        </a:rPr>
                        <a:t>Action</a:t>
                      </a:r>
                      <a:r>
                        <a:rPr lang="en-IN" sz="900" baseline="0" dirty="0">
                          <a:latin typeface="Calibri" panose="020F0502020204030204" pitchFamily="34" charset="0"/>
                        </a:rPr>
                        <a:t xml:space="preserve"> Implemented</a:t>
                      </a:r>
                      <a:endParaRPr lang="en-IN" sz="900" dirty="0">
                        <a:latin typeface="Calibri" panose="020F0502020204030204" pitchFamily="34" charset="0"/>
                      </a:endParaRP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51596"/>
                  </a:ext>
                </a:extLst>
              </a:tr>
              <a:tr h="118888">
                <a:tc>
                  <a:txBody>
                    <a:bodyPr/>
                    <a:lstStyle/>
                    <a:p>
                      <a:pPr algn="ctr"/>
                      <a:r>
                        <a:rPr lang="en-IN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dirty="0">
                          <a:latin typeface="Calibri" panose="020F0502020204030204" pitchFamily="34" charset="0"/>
                        </a:rPr>
                        <a:t>Action Effectiveness</a:t>
                      </a:r>
                    </a:p>
                  </a:txBody>
                  <a:tcPr marL="73462" marR="932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97928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092966" y="6023293"/>
            <a:ext cx="1240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 xml:space="preserve"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5969" y="5833538"/>
            <a:ext cx="2125581" cy="379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 xml:space="preserve">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B0E48A-0ACB-486A-B2CC-BD1D10FCDAF1}"/>
              </a:ext>
            </a:extLst>
          </p:cNvPr>
          <p:cNvSpPr/>
          <p:nvPr/>
        </p:nvSpPr>
        <p:spPr>
          <a:xfrm>
            <a:off x="156116" y="152400"/>
            <a:ext cx="5305425" cy="4925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Hemming open defect observed on rear door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1B13DC-6BC8-4A96-A45F-5AC91A8DBAD0}"/>
              </a:ext>
            </a:extLst>
          </p:cNvPr>
          <p:cNvSpPr/>
          <p:nvPr/>
        </p:nvSpPr>
        <p:spPr>
          <a:xfrm>
            <a:off x="333374" y="3685125"/>
            <a:ext cx="2752725" cy="46248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 xml:space="preserve">Defect Photos </a:t>
            </a:r>
          </a:p>
        </p:txBody>
      </p:sp>
    </p:spTree>
    <p:extLst>
      <p:ext uri="{BB962C8B-B14F-4D97-AF65-F5344CB8AC3E}">
        <p14:creationId xmlns:p14="http://schemas.microsoft.com/office/powerpoint/2010/main" val="324882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c5926c-8033-46f2-87e1-156ab4ef78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6F9B04FCD3A54396E8997DF0BACFEE" ma:contentTypeVersion="14" ma:contentTypeDescription="Create a new document." ma:contentTypeScope="" ma:versionID="1b3a5fbaeb81e6f37ce13eeaca6f0777">
  <xsd:schema xmlns:xsd="http://www.w3.org/2001/XMLSchema" xmlns:xs="http://www.w3.org/2001/XMLSchema" xmlns:p="http://schemas.microsoft.com/office/2006/metadata/properties" xmlns:ns3="52c5926c-8033-46f2-87e1-156ab4ef783f" xmlns:ns4="35c556fc-7a54-48be-b51f-71630306deba" targetNamespace="http://schemas.microsoft.com/office/2006/metadata/properties" ma:root="true" ma:fieldsID="438301a84295652ab2c40fb87e452632" ns3:_="" ns4:_="">
    <xsd:import namespace="52c5926c-8033-46f2-87e1-156ab4ef783f"/>
    <xsd:import namespace="35c556fc-7a54-48be-b51f-71630306deb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c5926c-8033-46f2-87e1-156ab4ef783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c556fc-7a54-48be-b51f-71630306deba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AA7814-59A2-4E68-8273-3ABA68963B63}">
  <ds:schemaRefs>
    <ds:schemaRef ds:uri="http://schemas.microsoft.com/office/infopath/2007/PartnerControls"/>
    <ds:schemaRef ds:uri="52c5926c-8033-46f2-87e1-156ab4ef783f"/>
    <ds:schemaRef ds:uri="http://www.w3.org/XML/1998/namespace"/>
    <ds:schemaRef ds:uri="http://purl.org/dc/terms/"/>
    <ds:schemaRef ds:uri="http://schemas.microsoft.com/office/2006/metadata/properties"/>
    <ds:schemaRef ds:uri="35c556fc-7a54-48be-b51f-71630306deba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C7CEE9B-7350-4C2C-BF6C-1935704A29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c5926c-8033-46f2-87e1-156ab4ef783f"/>
    <ds:schemaRef ds:uri="35c556fc-7a54-48be-b51f-71630306de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640D12-48CF-4FCB-B279-199B625F0B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77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TML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Cover Wrong</dc:title>
  <dc:creator>SHASHANK KHANTALE [ TMPV, Human Resources, Pune ]</dc:creator>
  <cp:lastModifiedBy>Pratik Kukade</cp:lastModifiedBy>
  <cp:revision>18</cp:revision>
  <dcterms:created xsi:type="dcterms:W3CDTF">2024-08-05T17:34:17Z</dcterms:created>
  <dcterms:modified xsi:type="dcterms:W3CDTF">2026-03-17T13:45:59Z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0x010100CB6F9B04FCD3A54396E8997DF0BACFEE</vt:lpwstr>
  </property>
</Properties>
</file>